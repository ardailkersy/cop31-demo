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61D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E5FF"/>
                </a:solidFill>
              </a:defRPr>
            </a:pPr>
            <a:r>
              <a:t>AQUASHIELD TWIN</a:t>
            </a:r>
          </a:p>
          <a:p>
            <a:pPr>
              <a:spcBef>
                <a:spcPts val="800"/>
              </a:spcBef>
              <a:defRPr sz="2200">
                <a:solidFill>
                  <a:srgbClr val="F3F4F6"/>
                </a:solidFill>
              </a:defRPr>
            </a:pPr>
            <a:r>
              <a:t>Dam Safety Digital Monitoring &amp; Predictive Intelligence</a:t>
            </a:r>
          </a:p>
          <a:p>
            <a:pPr>
              <a:spcBef>
                <a:spcPts val="2000"/>
              </a:spcBef>
              <a:defRPr sz="1400">
                <a:solidFill>
                  <a:srgbClr val="9CA3AF"/>
                </a:solidFill>
              </a:defRPr>
            </a:pPr>
            <a:r>
              <a:t>A modern WebGL 3D Digital Twin and Real-Time Telemetry Dashboard for Dam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206240"/>
            <a:ext cx="2194560" cy="1097280"/>
          </a:xfrm>
          <a:prstGeom prst="roundRect">
            <a:avLst/>
          </a:prstGeom>
          <a:solidFill>
            <a:srgbClr val="0F1624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</a:defRPr>
            </a:pPr>
            <a:r>
              <a:t>-85%</a:t>
            </a:r>
          </a:p>
          <a:p>
            <a:pPr algn="ctr">
              <a:defRPr sz="1100">
                <a:solidFill>
                  <a:srgbClr val="9CA3AF"/>
                </a:solidFill>
              </a:defRPr>
            </a:pPr>
            <a:r>
              <a:t>Failure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4206240"/>
            <a:ext cx="2194560" cy="1097280"/>
          </a:xfrm>
          <a:prstGeom prst="roundRect">
            <a:avLst/>
          </a:prstGeom>
          <a:solidFill>
            <a:srgbClr val="0F162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39" y="4297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</a:defRPr>
            </a:pPr>
            <a:r>
              <a:t>+22 Yrs</a:t>
            </a:r>
          </a:p>
          <a:p>
            <a:pPr algn="ctr">
              <a:defRPr sz="1100">
                <a:solidFill>
                  <a:srgbClr val="9CA3AF"/>
                </a:solidFill>
              </a:defRPr>
            </a:pPr>
            <a:r>
              <a:t>Asset Lifespan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4206240"/>
            <a:ext cx="2194560" cy="1097280"/>
          </a:xfrm>
          <a:prstGeom prst="roundRect">
            <a:avLst/>
          </a:prstGeom>
          <a:solidFill>
            <a:srgbClr val="0F16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4297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$1.4M/yr</a:t>
            </a:r>
          </a:p>
          <a:p>
            <a:pPr algn="ctr">
              <a:defRPr sz="1100">
                <a:solidFill>
                  <a:srgbClr val="9CA3AF"/>
                </a:solidFill>
              </a:defRPr>
            </a:pPr>
            <a:r>
              <a:t>OPEX Savings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59" y="4206240"/>
            <a:ext cx="2194560" cy="1097280"/>
          </a:xfrm>
          <a:prstGeom prst="roundRect">
            <a:avLst/>
          </a:prstGeom>
          <a:solidFill>
            <a:srgbClr val="0F162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4297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&lt; 15s</a:t>
            </a:r>
          </a:p>
          <a:p>
            <a:pPr algn="ctr">
              <a:defRPr sz="1100">
                <a:solidFill>
                  <a:srgbClr val="9CA3AF"/>
                </a:solidFill>
              </a:defRPr>
            </a:pPr>
            <a:r>
              <a:t>Early Warning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0E5FF"/>
                </a:solidFill>
                <a:latin typeface="Arial"/>
              </a:defRPr>
            </a:pPr>
            <a:r>
              <a:t>1. System Overview: What Does This Demo Do?</a:t>
            </a:r>
          </a:p>
          <a:p>
            <a:pPr>
              <a:spcBef>
                <a:spcPts val="400"/>
              </a:spcBef>
              <a:defRPr sz="1300">
                <a:solidFill>
                  <a:srgbClr val="9CA3AF"/>
                </a:solidFill>
                <a:latin typeface="Arial"/>
              </a:defRPr>
            </a:pPr>
            <a:r>
              <a:t>AquaShield Twin transforms complex dam safety engineering into interactive 3D WebGL visualizations and predictive AI risk analysis.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161D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•  Real-Time 3D Digital Twin Visualizer</a:t>
            </a:r>
          </a:p>
          <a:p>
            <a:pPr>
              <a:spcBef>
                <a:spcPts val="200"/>
              </a:spcBef>
              <a:defRPr sz="1200">
                <a:solidFill>
                  <a:srgbClr val="9CA3AF"/>
                </a:solidFill>
              </a:defRPr>
            </a:pPr>
            <a:r>
              <a:t>Renders full 3D dam model (Atatürk Earth-fill Dam) with dynamic water levels, interactive spillway gate releases, animated crest displacement, and real-time stress heatmaps.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50592"/>
            <a:ext cx="10728655" cy="868680"/>
          </a:xfrm>
          <a:prstGeom prst="roundRect">
            <a:avLst/>
          </a:prstGeom>
          <a:solidFill>
            <a:srgbClr val="16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3F4F6"/>
                </a:solidFill>
              </a:defRPr>
            </a:pPr>
            <a:r>
              <a:t>•  Live Telemetry Sensor Network</a:t>
            </a:r>
          </a:p>
          <a:p>
            <a:pPr>
              <a:spcBef>
                <a:spcPts val="200"/>
              </a:spcBef>
              <a:defRPr sz="1200">
                <a:solidFill>
                  <a:srgbClr val="9CA3AF"/>
                </a:solidFill>
              </a:defRPr>
            </a:pPr>
            <a:r>
              <a:t>Monitors 6 key structural sensor nodes (Piezometers P-01/P-02/P-03, Inclinometer INC-04, Seepage Flow Gauge SF-02, Reservoir Radar WL-01) with live streaming line charts.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38144"/>
            <a:ext cx="10728655" cy="868680"/>
          </a:xfrm>
          <a:prstGeom prst="roundRect">
            <a:avLst/>
          </a:prstGeom>
          <a:solidFill>
            <a:srgbClr val="16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29584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3F4F6"/>
                </a:solidFill>
              </a:defRPr>
            </a:pPr>
            <a:r>
              <a:t>•  AI Physics 'What-If' Stress Simulator</a:t>
            </a:r>
          </a:p>
          <a:p>
            <a:pPr>
              <a:spcBef>
                <a:spcPts val="200"/>
              </a:spcBef>
              <a:defRPr sz="1200">
                <a:solidFill>
                  <a:srgbClr val="9CA3AF"/>
                </a:solidFill>
              </a:defRPr>
            </a:pPr>
            <a:r>
              <a:t>Allows operators to adjust Reservoir Surge (0 to +15m), Seismic PGA (0 to 0.45g), and Spillway Gate Openings (10%-100%) to predict instant risk scores.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25696"/>
            <a:ext cx="10728655" cy="868680"/>
          </a:xfrm>
          <a:prstGeom prst="roundRect">
            <a:avLst/>
          </a:prstGeom>
          <a:solidFill>
            <a:srgbClr val="16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17136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3F4F6"/>
                </a:solidFill>
              </a:defRPr>
            </a:pPr>
            <a:r>
              <a:t>•  Automated Emergency Action Protocol</a:t>
            </a:r>
          </a:p>
          <a:p>
            <a:pPr>
              <a:spcBef>
                <a:spcPts val="200"/>
              </a:spcBef>
              <a:defRPr sz="1200">
                <a:solidFill>
                  <a:srgbClr val="9CA3AF"/>
                </a:solidFill>
              </a:defRPr>
            </a:pPr>
            <a:r>
              <a:t>Evaluates safety thresholds dynamically and outputs operational recommendations (Normal, Advisory Warning, or Critical Emergency Protocol).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13248"/>
            <a:ext cx="10728655" cy="868680"/>
          </a:xfrm>
          <a:prstGeom prst="roundRect">
            <a:avLst/>
          </a:prstGeom>
          <a:solidFill>
            <a:srgbClr val="16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04688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3F4F6"/>
                </a:solidFill>
              </a:defRPr>
            </a:pPr>
            <a:r>
              <a:t>•  Executive ROI &amp; Safety Insights</a:t>
            </a:r>
          </a:p>
          <a:p>
            <a:pPr>
              <a:spcBef>
                <a:spcPts val="200"/>
              </a:spcBef>
              <a:defRPr sz="1200">
                <a:solidFill>
                  <a:srgbClr val="9CA3AF"/>
                </a:solidFill>
              </a:defRPr>
            </a:pPr>
            <a:r>
              <a:t>Demonstrates how digital twins lower catastrophic risk by 85%, cut annual maintenance costs by $1.4M, and extend dam operational lifespan by 22+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0E5FF"/>
                </a:solidFill>
                <a:latin typeface="Arial"/>
              </a:defRPr>
            </a:pPr>
            <a:r>
              <a:t>2. Key Features &amp; Core Components</a:t>
            </a:r>
          </a:p>
          <a:p>
            <a:pPr>
              <a:spcBef>
                <a:spcPts val="400"/>
              </a:spcBef>
              <a:defRPr sz="1300">
                <a:solidFill>
                  <a:srgbClr val="9CA3AF"/>
                </a:solidFill>
                <a:latin typeface="Arial"/>
              </a:defRPr>
            </a:pPr>
            <a:r>
              <a:t>Three integrated modules work together to provide complete structural health oversight.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161D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5FF"/>
                </a:solidFill>
              </a:defRPr>
            </a:pPr>
            <a:r>
              <a:t>3D WebGL Model Viewport</a:t>
            </a:r>
          </a:p>
          <a:p>
            <a:pPr>
              <a:spcBef>
                <a:spcPts val="1200"/>
              </a:spcBef>
              <a:defRPr sz="1200">
                <a:solidFill>
                  <a:srgbClr val="F3F4F6"/>
                </a:solidFill>
              </a:defRPr>
            </a:pPr>
            <a:r>
              <a:t>• Interactive 3D View: 360° orbit, zoom, and pan controls.</a:t>
            </a:r>
          </a:p>
          <a:p>
            <a:pPr>
              <a:spcBef>
                <a:spcPts val="1200"/>
              </a:spcBef>
              <a:defRPr sz="1200">
                <a:solidFill>
                  <a:srgbClr val="F3F4F6"/>
                </a:solidFill>
              </a:defRPr>
            </a:pPr>
            <a:r>
              <a:t>• Core Cross-Section: Cutaway view revealing internal clay core and foundation.</a:t>
            </a:r>
          </a:p>
          <a:p>
            <a:pPr>
              <a:spcBef>
                <a:spcPts val="1200"/>
              </a:spcBef>
              <a:defRPr sz="1200">
                <a:solidFill>
                  <a:srgbClr val="F3F4F6"/>
                </a:solidFill>
              </a:defRPr>
            </a:pPr>
            <a:r>
              <a:t>• Stress Heatmap Mode: Visual representation of hydrostatic stress zones.</a:t>
            </a:r>
          </a:p>
          <a:p>
            <a:pPr>
              <a:spcBef>
                <a:spcPts val="1200"/>
              </a:spcBef>
              <a:defRPr sz="1200">
                <a:solidFill>
                  <a:srgbClr val="F3F4F6"/>
                </a:solidFill>
              </a:defRPr>
            </a:pPr>
            <a:r>
              <a:t>• Dynamic Water &amp; Gates: Animated reservoir surface and spillway particle discharge.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161D2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B5CF6"/>
                </a:solidFill>
              </a:defRPr>
            </a:pPr>
            <a:r>
              <a:t>Live Telemetry &amp; Sensor Suite</a:t>
            </a:r>
          </a:p>
          <a:p>
            <a:pPr>
              <a:spcBef>
                <a:spcPts val="1200"/>
              </a:spcBef>
              <a:defRPr sz="1200">
                <a:solidFill>
                  <a:srgbClr val="F3F4F6"/>
                </a:solidFill>
              </a:defRPr>
            </a:pPr>
            <a:r>
              <a:t>• Piezometers (P-01, P-02, P-03): Pore water pressure in kPa.</a:t>
            </a:r>
          </a:p>
          <a:p>
            <a:pPr>
              <a:spcBef>
                <a:spcPts val="1200"/>
              </a:spcBef>
              <a:defRPr sz="1200">
                <a:solidFill>
                  <a:srgbClr val="F3F4F6"/>
                </a:solidFill>
              </a:defRPr>
            </a:pPr>
            <a:r>
              <a:t>• Crest Inclinometer (INC-04): Structural crest movement in mm.</a:t>
            </a:r>
          </a:p>
          <a:p>
            <a:pPr>
              <a:spcBef>
                <a:spcPts val="1200"/>
              </a:spcBef>
              <a:defRPr sz="1200">
                <a:solidFill>
                  <a:srgbClr val="F3F4F6"/>
                </a:solidFill>
              </a:defRPr>
            </a:pPr>
            <a:r>
              <a:t>• Seepage Gauge (SF-02): Drainage gallery leakage flow in L/min.</a:t>
            </a:r>
          </a:p>
          <a:p>
            <a:pPr>
              <a:spcBef>
                <a:spcPts val="1200"/>
              </a:spcBef>
              <a:defRPr sz="1200">
                <a:solidFill>
                  <a:srgbClr val="F3F4F6"/>
                </a:solidFill>
              </a:defRPr>
            </a:pPr>
            <a:r>
              <a:t>• Time-Series Graphs: Real-time updated streaming charts.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161D2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AI Stress Simulator &amp; Risk Controls</a:t>
            </a:r>
          </a:p>
          <a:p>
            <a:pPr>
              <a:spcBef>
                <a:spcPts val="1200"/>
              </a:spcBef>
              <a:defRPr sz="1200">
                <a:solidFill>
                  <a:srgbClr val="F3F4F6"/>
                </a:solidFill>
              </a:defRPr>
            </a:pPr>
            <a:r>
              <a:t>• Reservoir Surge Slider: Simulate extreme flood inflow (+0 to +15m).</a:t>
            </a:r>
          </a:p>
          <a:p>
            <a:pPr>
              <a:spcBef>
                <a:spcPts val="1200"/>
              </a:spcBef>
              <a:defRPr sz="1200">
                <a:solidFill>
                  <a:srgbClr val="F3F4F6"/>
                </a:solidFill>
              </a:defRPr>
            </a:pPr>
            <a:r>
              <a:t>• Seismic PGA Slider: Simulate earthquake shaking (0.00g to 0.45g).</a:t>
            </a:r>
          </a:p>
          <a:p>
            <a:pPr>
              <a:spcBef>
                <a:spcPts val="1200"/>
              </a:spcBef>
              <a:defRPr sz="1200">
                <a:solidFill>
                  <a:srgbClr val="F3F4F6"/>
                </a:solidFill>
              </a:defRPr>
            </a:pPr>
            <a:r>
              <a:t>• Spillway Control: Manage gate discharge (10% - 100%).</a:t>
            </a:r>
          </a:p>
          <a:p>
            <a:pPr>
              <a:spcBef>
                <a:spcPts val="1200"/>
              </a:spcBef>
              <a:defRPr sz="1200">
                <a:solidFill>
                  <a:srgbClr val="F3F4F6"/>
                </a:solidFill>
              </a:defRPr>
            </a:pPr>
            <a:r>
              <a:t>• Dynamic Risk Score: Live 0-100 index with emergency action guidelines.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0E5FF"/>
                </a:solidFill>
                <a:latin typeface="Arial"/>
              </a:defRPr>
            </a:pPr>
            <a:r>
              <a:t>3. 3D WebGL Digital Twin Modes</a:t>
            </a:r>
          </a:p>
          <a:p>
            <a:pPr>
              <a:spcBef>
                <a:spcPts val="400"/>
              </a:spcBef>
              <a:defRPr sz="1300">
                <a:solidFill>
                  <a:srgbClr val="9CA3AF"/>
                </a:solidFill>
                <a:latin typeface="Arial"/>
              </a:defRPr>
            </a:pPr>
            <a:r>
              <a:t>Switch between 3 distinct visualization perspectives to inspect dam integrity.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161D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Mode 1: 3D Digital Model</a:t>
            </a:r>
          </a:p>
          <a:p>
            <a:pPr>
              <a:spcBef>
                <a:spcPts val="600"/>
              </a:spcBef>
              <a:defRPr sz="1300">
                <a:solidFill>
                  <a:srgbClr val="F3F4F6"/>
                </a:solidFill>
              </a:defRPr>
            </a:pPr>
            <a:r>
              <a:t>Provides a full realistic 3D exterior model of the dam embankment, reservoir water body, intake tower, and spillway structures. Includes live 3D sensor badges attached directly to structural coordinates.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728655" cy="1371600"/>
          </a:xfrm>
          <a:prstGeom prst="roundRect">
            <a:avLst/>
          </a:prstGeom>
          <a:solidFill>
            <a:srgbClr val="161D2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B5CF6"/>
                </a:solidFill>
              </a:defRPr>
            </a:pPr>
            <a:r>
              <a:t>Mode 2: Internal Core Cross-Section</a:t>
            </a:r>
          </a:p>
          <a:p>
            <a:pPr>
              <a:spcBef>
                <a:spcPts val="600"/>
              </a:spcBef>
              <a:defRPr sz="1300">
                <a:solidFill>
                  <a:srgbClr val="F3F4F6"/>
                </a:solidFill>
              </a:defRPr>
            </a:pPr>
            <a:r>
              <a:t>Exposes a cutaway cross-section of the dam interior. Allows engineers to inspect the impervious clay core, upstream shell, downstream toe, and internal drainage gallery layout.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161D2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Mode 3: Stress Heatmap Mode</a:t>
            </a:r>
          </a:p>
          <a:p>
            <a:pPr>
              <a:spcBef>
                <a:spcPts val="600"/>
              </a:spcBef>
              <a:defRPr sz="1300">
                <a:solidFill>
                  <a:srgbClr val="F3F4F6"/>
                </a:solidFill>
              </a:defRPr>
            </a:pPr>
            <a:r>
              <a:t>Overlays dynamic color-coded stress gradients (Blue = Stable, Yellow = Moderate Pressure, Red = High Critical Load) based on current reservoir height and seismic ground acceleration.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0E5FF"/>
                </a:solidFill>
                <a:latin typeface="Arial"/>
              </a:defRPr>
            </a:pPr>
            <a:r>
              <a:t>4. Sensor Telemetry &amp; Health Monitoring</a:t>
            </a:r>
          </a:p>
          <a:p>
            <a:pPr>
              <a:spcBef>
                <a:spcPts val="400"/>
              </a:spcBef>
              <a:defRPr sz="1300">
                <a:solidFill>
                  <a:srgbClr val="9CA3AF"/>
                </a:solidFill>
                <a:latin typeface="Arial"/>
              </a:defRPr>
            </a:pPr>
            <a:r>
              <a:t>Comprehensive sensor telemetry tracking key engineering parameters in real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61D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Configured Sensor Inventory &amp; Threshold Envelopes</a:t>
            </a:r>
          </a:p>
          <a:p>
            <a:pPr>
              <a:spcBef>
                <a:spcPts val="800"/>
              </a:spcBef>
              <a:defRPr sz="1200">
                <a:solidFill>
                  <a:srgbClr val="F3F4F6"/>
                </a:solidFill>
              </a:defRPr>
            </a:pPr>
            <a:r>
              <a:t>• [P-01] Piezometer | Upstream Toe (EL 490m) — Value: 242.4 kPa (Limit: 300.0 kPa) — Monitors uplift pore pressure under upstream slope.</a:t>
            </a:r>
          </a:p>
          <a:p>
            <a:pPr>
              <a:spcBef>
                <a:spcPts val="800"/>
              </a:spcBef>
              <a:defRPr sz="1200">
                <a:solidFill>
                  <a:srgbClr val="F3F4F6"/>
                </a:solidFill>
              </a:defRPr>
            </a:pPr>
            <a:r>
              <a:t>• [P-02] Piezometer | Impervious Core (EL 510m) — Value: 185.1 kPa (Limit: 220.0 kPa) — Measures internal seepage pressure inside clay core.</a:t>
            </a:r>
          </a:p>
          <a:p>
            <a:pPr>
              <a:spcBef>
                <a:spcPts val="800"/>
              </a:spcBef>
              <a:defRPr sz="1200">
                <a:solidFill>
                  <a:srgbClr val="F3F4F6"/>
                </a:solidFill>
              </a:defRPr>
            </a:pPr>
            <a:r>
              <a:t>• [P-03] Piezometer | Downstream Core (EL 480m) — Value: 92.6 kPa (Limit: 150.0 kPa) — Ensures downstream phreatic line remains safe.</a:t>
            </a:r>
          </a:p>
          <a:p>
            <a:pPr>
              <a:spcBef>
                <a:spcPts val="800"/>
              </a:spcBef>
              <a:defRPr sz="1200">
                <a:solidFill>
                  <a:srgbClr val="F3F4F6"/>
                </a:solidFill>
              </a:defRPr>
            </a:pPr>
            <a:r>
              <a:t>• [INC-04] Inclinometer | Crest Center (Sec-04) — Value: 3.2 mm (Limit: 8.0 mm) — Detects structural lateral deformation of the crest.</a:t>
            </a:r>
          </a:p>
          <a:p>
            <a:pPr>
              <a:spcBef>
                <a:spcPts val="800"/>
              </a:spcBef>
              <a:defRPr sz="1200">
                <a:solidFill>
                  <a:srgbClr val="F3F4F6"/>
                </a:solidFill>
              </a:defRPr>
            </a:pPr>
            <a:r>
              <a:t>• [SF-02] Seepage Flow | Drainage Gallery G-02 — Value: 14.2 L/min (Limit: 25.0 L/min) — Measures water collection rate in drainage tunnels.</a:t>
            </a:r>
          </a:p>
          <a:p>
            <a:pPr>
              <a:spcBef>
                <a:spcPts val="800"/>
              </a:spcBef>
              <a:defRPr sz="1200">
                <a:solidFill>
                  <a:srgbClr val="F3F4F6"/>
                </a:solidFill>
              </a:defRPr>
            </a:pPr>
            <a:r>
              <a:t>• [WL-01] Water Radar | Reservoir Intake Tower — Value: 537.4 m (Limit: 545.0 m) — Tracks reservoir surface water elevation.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0E5FF"/>
                </a:solidFill>
                <a:latin typeface="Arial"/>
              </a:defRPr>
            </a:pPr>
            <a:r>
              <a:t>5. AI Physics 'What-If' Stress Simulator</a:t>
            </a:r>
          </a:p>
          <a:p>
            <a:pPr>
              <a:spcBef>
                <a:spcPts val="400"/>
              </a:spcBef>
              <a:defRPr sz="1300">
                <a:solidFill>
                  <a:srgbClr val="9CA3AF"/>
                </a:solidFill>
                <a:latin typeface="Arial"/>
              </a:defRPr>
            </a:pPr>
            <a:r>
              <a:t>Test dam stability against severe environmental stressors in real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1D2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B5CF6"/>
                </a:solidFill>
              </a:defRPr>
            </a:pPr>
            <a:r>
              <a:t>Simulation Control Knobs</a:t>
            </a:r>
          </a:p>
          <a:p>
            <a:pPr>
              <a:spcBef>
                <a:spcPts val="1200"/>
              </a:spcBef>
              <a:defRPr sz="1400" b="1">
                <a:solidFill>
                  <a:srgbClr val="F3F4F6"/>
                </a:solidFill>
              </a:defRPr>
            </a:pPr>
            <a:r>
              <a:t>• 1. Reservoir Surge (+0m to +15m)</a:t>
            </a:r>
          </a:p>
          <a:p>
            <a:pPr>
              <a:spcBef>
                <a:spcPts val="200"/>
              </a:spcBef>
              <a:defRPr sz="1100">
                <a:solidFill>
                  <a:srgbClr val="9CA3AF"/>
                </a:solidFill>
              </a:defRPr>
            </a:pPr>
            <a:r>
              <a:t>Simulates extreme rainfall &amp; flood surge. Increases water level, hydrostatic pressure, and seepage rates.</a:t>
            </a:r>
          </a:p>
          <a:p>
            <a:pPr>
              <a:spcBef>
                <a:spcPts val="1200"/>
              </a:spcBef>
              <a:defRPr sz="1400" b="1">
                <a:solidFill>
                  <a:srgbClr val="F3F4F6"/>
                </a:solidFill>
              </a:defRPr>
            </a:pPr>
            <a:r>
              <a:t>• 2. Seismic PGA (0.00g to 0.45g)</a:t>
            </a:r>
          </a:p>
          <a:p>
            <a:pPr>
              <a:spcBef>
                <a:spcPts val="200"/>
              </a:spcBef>
              <a:defRPr sz="1100">
                <a:solidFill>
                  <a:srgbClr val="9CA3AF"/>
                </a:solidFill>
              </a:defRPr>
            </a:pPr>
            <a:r>
              <a:t>Simulates earthquake ground acceleration. Induces crest vibration, dynamic displacement, and pore pressure rises.</a:t>
            </a:r>
          </a:p>
          <a:p>
            <a:pPr>
              <a:spcBef>
                <a:spcPts val="1200"/>
              </a:spcBef>
              <a:defRPr sz="1400" b="1">
                <a:solidFill>
                  <a:srgbClr val="F3F4F6"/>
                </a:solidFill>
              </a:defRPr>
            </a:pPr>
            <a:r>
              <a:t>• 3. Spillway Gate Opening (10% - 100%)</a:t>
            </a:r>
          </a:p>
          <a:p>
            <a:pPr>
              <a:spcBef>
                <a:spcPts val="200"/>
              </a:spcBef>
              <a:defRPr sz="1100">
                <a:solidFill>
                  <a:srgbClr val="9CA3AF"/>
                </a:solidFill>
              </a:defRPr>
            </a:pPr>
            <a:r>
              <a:t>Controls reservoir flood discharge rate. Closing gates increases upstream water accumulation.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61D2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Dynamic Risk Output &amp; Action Protocols</a:t>
            </a:r>
          </a:p>
          <a:p>
            <a:pPr>
              <a:spcBef>
                <a:spcPts val="1400"/>
              </a:spcBef>
              <a:defRPr sz="1400" b="1">
                <a:solidFill>
                  <a:srgbClr val="10B981"/>
                </a:solidFill>
              </a:defRPr>
            </a:pPr>
            <a:r>
              <a:t>• Status: OPERATIONAL (&lt; 28)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Structure stable under nominal hydrodynamic loads. Standard monitoring active.</a:t>
            </a:r>
          </a:p>
          <a:p>
            <a:pPr>
              <a:spcBef>
                <a:spcPts val="1400"/>
              </a:spcBef>
              <a:defRPr sz="1400" b="1">
                <a:solidFill>
                  <a:srgbClr val="F59E0B"/>
                </a:solidFill>
              </a:defRPr>
            </a:pPr>
            <a:r>
              <a:t>• Status: ELEVATED RISK (28 - 60)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Hydrodynamic pressure elevated. Increase piezometric sampling. Prepare auxiliary spillways.</a:t>
            </a:r>
          </a:p>
          <a:p>
            <a:pPr>
              <a:spcBef>
                <a:spcPts val="1400"/>
              </a:spcBef>
              <a:defRPr sz="1400" b="1">
                <a:solidFill>
                  <a:srgbClr val="EF4444"/>
                </a:solidFill>
              </a:defRPr>
            </a:pPr>
            <a:r>
              <a:t>• Status: CRITICAL ALERT (&gt; 60)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EMERGENCY PROTOCOL: Open spillway gates to 100%. Dispatch civil team to inspect Downstream Toe (P-01).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0E5FF"/>
                </a:solidFill>
                <a:latin typeface="Arial"/>
              </a:defRPr>
            </a:pPr>
            <a:r>
              <a:t>6. How to Use the Demo: Step-by-Step Guide</a:t>
            </a:r>
          </a:p>
          <a:p>
            <a:pPr>
              <a:spcBef>
                <a:spcPts val="400"/>
              </a:spcBef>
              <a:defRPr sz="1300">
                <a:solidFill>
                  <a:srgbClr val="9CA3AF"/>
                </a:solidFill>
                <a:latin typeface="Arial"/>
              </a:defRPr>
            </a:pPr>
            <a:r>
              <a:t>Follow these 5 simple steps to explore and evaluate the AquaShield Twin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161D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Step 1: Launch Application</a:t>
            </a:r>
          </a:p>
          <a:p>
            <a:pPr>
              <a:spcBef>
                <a:spcPts val="200"/>
              </a:spcBef>
              <a:defRPr sz="1200">
                <a:solidFill>
                  <a:srgbClr val="9CA3AF"/>
                </a:solidFill>
              </a:defRPr>
            </a:pPr>
            <a:r>
              <a:t>Run 'npm run dev' and open http://localhost:3000 in any WebGL-enabled desktop browser.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50592"/>
            <a:ext cx="10728655" cy="868680"/>
          </a:xfrm>
          <a:prstGeom prst="roundRect">
            <a:avLst/>
          </a:prstGeom>
          <a:solidFill>
            <a:srgbClr val="16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3F4F6"/>
                </a:solidFill>
              </a:defRPr>
            </a:pPr>
            <a:r>
              <a:t>Step 2: Explore 3D Viewport Modes</a:t>
            </a:r>
          </a:p>
          <a:p>
            <a:pPr>
              <a:spcBef>
                <a:spcPts val="200"/>
              </a:spcBef>
              <a:defRPr sz="1200">
                <a:solidFill>
                  <a:srgbClr val="9CA3AF"/>
                </a:solidFill>
              </a:defRPr>
            </a:pPr>
            <a:r>
              <a:t>Toggle between '3D Digital Model', 'Internal Core Cross-Section', and 'Stress Heatmap' top buttons.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38144"/>
            <a:ext cx="10728655" cy="868680"/>
          </a:xfrm>
          <a:prstGeom prst="roundRect">
            <a:avLst/>
          </a:prstGeom>
          <a:solidFill>
            <a:srgbClr val="16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29584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3F4F6"/>
                </a:solidFill>
              </a:defRPr>
            </a:pPr>
            <a:r>
              <a:t>Step 3: Interact with 3D Sensors</a:t>
            </a:r>
          </a:p>
          <a:p>
            <a:pPr>
              <a:spcBef>
                <a:spcPts val="200"/>
              </a:spcBef>
              <a:defRPr sz="1200">
                <a:solidFill>
                  <a:srgbClr val="9CA3AF"/>
                </a:solidFill>
              </a:defRPr>
            </a:pPr>
            <a:r>
              <a:t>Click sensor markers (P-01, INC-04, etc.) in the 3D model or left sidebar to view instant live charts.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25696"/>
            <a:ext cx="10728655" cy="868680"/>
          </a:xfrm>
          <a:prstGeom prst="roundRect">
            <a:avLst/>
          </a:prstGeom>
          <a:solidFill>
            <a:srgbClr val="16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17136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3F4F6"/>
                </a:solidFill>
              </a:defRPr>
            </a:pPr>
            <a:r>
              <a:t>Step 4: Run Stress Scenarios</a:t>
            </a:r>
          </a:p>
          <a:p>
            <a:pPr>
              <a:spcBef>
                <a:spcPts val="200"/>
              </a:spcBef>
              <a:defRPr sz="1200">
                <a:solidFill>
                  <a:srgbClr val="9CA3AF"/>
                </a:solidFill>
              </a:defRPr>
            </a:pPr>
            <a:r>
              <a:t>Adjust sliders on the right panel (Surge +10m, Seismic PGA 0.35g) to simulate extreme storm &amp; quake events.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13248"/>
            <a:ext cx="10728655" cy="868680"/>
          </a:xfrm>
          <a:prstGeom prst="roundRect">
            <a:avLst/>
          </a:prstGeom>
          <a:solidFill>
            <a:srgbClr val="16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04688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3F4F6"/>
                </a:solidFill>
              </a:defRPr>
            </a:pPr>
            <a:r>
              <a:t>Step 5: Observe Safety Protocol &amp; Reset</a:t>
            </a:r>
          </a:p>
          <a:p>
            <a:pPr>
              <a:spcBef>
                <a:spcPts val="200"/>
              </a:spcBef>
              <a:defRPr sz="1200">
                <a:solidFill>
                  <a:srgbClr val="9CA3AF"/>
                </a:solidFill>
              </a:defRPr>
            </a:pPr>
            <a:r>
              <a:t>Review how the Risk Score updates automatically to Critical Alert, then click 'Reset Baseline Simulation'.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0E5FF"/>
                </a:solidFill>
                <a:latin typeface="Arial"/>
              </a:defRPr>
            </a:pPr>
            <a:r>
              <a:t>7. Technology Stack &amp; Business Value</a:t>
            </a:r>
          </a:p>
          <a:p>
            <a:pPr>
              <a:spcBef>
                <a:spcPts val="400"/>
              </a:spcBef>
              <a:defRPr sz="1300">
                <a:solidFill>
                  <a:srgbClr val="9CA3AF"/>
                </a:solidFill>
                <a:latin typeface="Arial"/>
              </a:defRPr>
            </a:pPr>
            <a:r>
              <a:t>Built with modern web technologies to deliver high-performance digital twin visualization.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1D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Technology Stack</a:t>
            </a:r>
          </a:p>
          <a:p>
            <a:pPr>
              <a:spcBef>
                <a:spcPts val="1000"/>
              </a:spcBef>
              <a:defRPr sz="1300" b="1">
                <a:solidFill>
                  <a:srgbClr val="F3F4F6"/>
                </a:solidFill>
              </a:defRPr>
            </a:pPr>
            <a:r>
              <a:t>• Next.js 16 (React 19, Turbopack)</a:t>
            </a:r>
          </a:p>
          <a:p>
            <a:pPr>
              <a:spcBef>
                <a:spcPts val="200"/>
              </a:spcBef>
              <a:defRPr sz="1100">
                <a:solidFill>
                  <a:srgbClr val="9CA3AF"/>
                </a:solidFill>
              </a:defRPr>
            </a:pPr>
            <a:r>
              <a:t>App Router, SSR-disabled dynamic client rendering for WebGL.</a:t>
            </a:r>
          </a:p>
          <a:p>
            <a:pPr>
              <a:spcBef>
                <a:spcPts val="1000"/>
              </a:spcBef>
              <a:defRPr sz="1300" b="1">
                <a:solidFill>
                  <a:srgbClr val="F3F4F6"/>
                </a:solidFill>
              </a:defRPr>
            </a:pPr>
            <a:r>
              <a:t>• Three.js &amp; React Three Fiber</a:t>
            </a:r>
          </a:p>
          <a:p>
            <a:pPr>
              <a:spcBef>
                <a:spcPts val="200"/>
              </a:spcBef>
              <a:defRPr sz="1100">
                <a:solidFill>
                  <a:srgbClr val="9CA3AF"/>
                </a:solidFill>
              </a:defRPr>
            </a:pPr>
            <a:r>
              <a:t>High-performance GPU WebGL rendering, custom dam geometries, particle water physics.</a:t>
            </a:r>
          </a:p>
          <a:p>
            <a:pPr>
              <a:spcBef>
                <a:spcPts val="1000"/>
              </a:spcBef>
              <a:defRPr sz="1300" b="1">
                <a:solidFill>
                  <a:srgbClr val="F3F4F6"/>
                </a:solidFill>
              </a:defRPr>
            </a:pPr>
            <a:r>
              <a:t>• Chart.js &amp; react-chartjs-2</a:t>
            </a:r>
          </a:p>
          <a:p>
            <a:pPr>
              <a:spcBef>
                <a:spcPts val="200"/>
              </a:spcBef>
              <a:defRPr sz="1100">
                <a:solidFill>
                  <a:srgbClr val="9CA3AF"/>
                </a:solidFill>
              </a:defRPr>
            </a:pPr>
            <a:r>
              <a:t>Streaming real-time telemetry line charts with smooth animated transitions.</a:t>
            </a:r>
          </a:p>
          <a:p>
            <a:pPr>
              <a:spcBef>
                <a:spcPts val="1000"/>
              </a:spcBef>
              <a:defRPr sz="1300" b="1">
                <a:solidFill>
                  <a:srgbClr val="F3F4F6"/>
                </a:solidFill>
              </a:defRPr>
            </a:pPr>
            <a:r>
              <a:t>• Tailwind CSS v4</a:t>
            </a:r>
          </a:p>
          <a:p>
            <a:pPr>
              <a:spcBef>
                <a:spcPts val="200"/>
              </a:spcBef>
              <a:defRPr sz="1100">
                <a:solidFill>
                  <a:srgbClr val="9CA3AF"/>
                </a:solidFill>
              </a:defRPr>
            </a:pPr>
            <a:r>
              <a:t>Glassmorphism UI design tokens, dark tech aesthetic, responsive executive grid layout.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61D2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B5CF6"/>
                </a:solidFill>
              </a:defRPr>
            </a:pPr>
            <a:r>
              <a:t>Business Impact &amp; Value Delivered</a:t>
            </a:r>
          </a:p>
          <a:p>
            <a:pPr>
              <a:spcBef>
                <a:spcPts val="1000"/>
              </a:spcBef>
              <a:defRPr sz="1300" b="1">
                <a:solidFill>
                  <a:srgbClr val="F3F4F6"/>
                </a:solidFill>
              </a:defRPr>
            </a:pPr>
            <a:r>
              <a:t>• Risk Reduction</a:t>
            </a:r>
          </a:p>
          <a:p>
            <a:pPr>
              <a:spcBef>
                <a:spcPts val="200"/>
              </a:spcBef>
              <a:defRPr sz="1100">
                <a:solidFill>
                  <a:srgbClr val="9CA3AF"/>
                </a:solidFill>
              </a:defRPr>
            </a:pPr>
            <a:r>
              <a:t>-85% reduction in catastrophic failure risk through early anomaly detection.</a:t>
            </a:r>
          </a:p>
          <a:p>
            <a:pPr>
              <a:spcBef>
                <a:spcPts val="1000"/>
              </a:spcBef>
              <a:defRPr sz="1300" b="1">
                <a:solidFill>
                  <a:srgbClr val="F3F4F6"/>
                </a:solidFill>
              </a:defRPr>
            </a:pPr>
            <a:r>
              <a:t>• Asset Longevity</a:t>
            </a:r>
          </a:p>
          <a:p>
            <a:pPr>
              <a:spcBef>
                <a:spcPts val="200"/>
              </a:spcBef>
              <a:defRPr sz="1100">
                <a:solidFill>
                  <a:srgbClr val="9CA3AF"/>
                </a:solidFill>
              </a:defRPr>
            </a:pPr>
            <a:r>
              <a:t>+22 years extended operational lifespan via proactive structural care.</a:t>
            </a:r>
          </a:p>
          <a:p>
            <a:pPr>
              <a:spcBef>
                <a:spcPts val="1000"/>
              </a:spcBef>
              <a:defRPr sz="1300" b="1">
                <a:solidFill>
                  <a:srgbClr val="F3F4F6"/>
                </a:solidFill>
              </a:defRPr>
            </a:pPr>
            <a:r>
              <a:t>• Cost Efficiency</a:t>
            </a:r>
          </a:p>
          <a:p>
            <a:pPr>
              <a:spcBef>
                <a:spcPts val="200"/>
              </a:spcBef>
              <a:defRPr sz="1100">
                <a:solidFill>
                  <a:srgbClr val="9CA3AF"/>
                </a:solidFill>
              </a:defRPr>
            </a:pPr>
            <a:r>
              <a:t>$1.4M annual savings in operational maintenance and inspection OPEX.</a:t>
            </a:r>
          </a:p>
          <a:p>
            <a:pPr>
              <a:spcBef>
                <a:spcPts val="1000"/>
              </a:spcBef>
              <a:defRPr sz="1300" b="1">
                <a:solidFill>
                  <a:srgbClr val="F3F4F6"/>
                </a:solidFill>
              </a:defRPr>
            </a:pPr>
            <a:r>
              <a:t>• Response Speed</a:t>
            </a:r>
          </a:p>
          <a:p>
            <a:pPr>
              <a:spcBef>
                <a:spcPts val="200"/>
              </a:spcBef>
              <a:defRPr sz="1100">
                <a:solidFill>
                  <a:srgbClr val="9CA3AF"/>
                </a:solidFill>
              </a:defRPr>
            </a:pPr>
            <a:r>
              <a:t>&lt;15 second automated emergency warning dispatch during extreme events.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