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0728655" cy="379476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3258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9CA3AF"/>
                </a:solidFill>
                <a:latin typeface="Consolas"/>
              </a:defRPr>
            </a:pPr>
            <a:r>
              <a:t>DEMO DAM · DIGITAL TWIN</a:t>
            </a:r>
          </a:p>
          <a:p>
            <a:pPr algn="l">
              <a:spcBef>
                <a:spcPts val="600"/>
              </a:spcBef>
              <a:defRPr sz="4200" b="1">
                <a:solidFill>
                  <a:srgbClr val="00E5FF"/>
                </a:solidFill>
                <a:latin typeface="Arial"/>
              </a:defRPr>
            </a:pPr>
            <a:r>
              <a:t>How It Works</a:t>
            </a:r>
          </a:p>
          <a:p>
            <a:pPr algn="l">
              <a:spcBef>
                <a:spcPts val="1000"/>
              </a:spcBef>
              <a:defRPr sz="1900" b="0">
                <a:solidFill>
                  <a:srgbClr val="F3F4F6"/>
                </a:solidFill>
                <a:latin typeface="Arial"/>
              </a:defRPr>
            </a:pPr>
            <a:r>
              <a:t>The model, the equations, and every constant behind the dashboard</a:t>
            </a:r>
          </a:p>
          <a:p>
            <a:pPr algn="l">
              <a:spcBef>
                <a:spcPts val="14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A technical walkthrough of the simulation layer: three operator inputs drive six sensor responses, one risk decomposition, and three scripted scenarios — all as pure, deterministic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52044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666744"/>
            <a:ext cx="2148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00E5FF"/>
                </a:solidFill>
                <a:latin typeface="Consolas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Sim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8728" y="352044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3666744"/>
            <a:ext cx="2148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8B5CF6"/>
                </a:solidFill>
                <a:latin typeface="Consolas"/>
              </a:defRPr>
            </a:pPr>
            <a:r>
              <a:t>6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Sensor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352044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6" y="3666744"/>
            <a:ext cx="2148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Consolas"/>
              </a:defRPr>
            </a:pPr>
            <a:r>
              <a:t>2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Core equations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352044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3666744"/>
            <a:ext cx="2148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F59E0B"/>
                </a:solidFill>
                <a:latin typeface="Consolas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F3F4F6"/>
                </a:solidFill>
                <a:latin typeface="Arial"/>
              </a:defRPr>
            </a:pPr>
            <a:r>
              <a:t>SU YAPI Engineering &amp; Consulting   ·   Para Sidara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Demonstration dataset — figures are simulated, not live field telemetry.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What this deck covers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Four questions, answered in order. Skip to the one you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08760"/>
            <a:ext cx="10625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1 · How does data flow?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Three slider inputs → pure functions → sensors, risk, protocol, 3D twin. No hidden state, no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423160"/>
            <a:ext cx="10625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2 · How is each sensor reading calculated?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One linear superposition equation with per-sensor sensitivity coefficients. Slides 5–9.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4612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337560"/>
            <a:ext cx="10625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3 · How is the risk score calculated?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Three weighted drivers plus a baseline, clamped and banded into three status levels. Slides 10–12.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6052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251959"/>
            <a:ext cx="10625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4 · How do the scripted scenarios run?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Keyframe interpolation on a smoothstep curve, with events fired at progress thresholds. Slides 13–15.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7492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166359"/>
            <a:ext cx="10625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5 · What is this model NOT?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The honest limits — what a reviewer should know before reading anything into the numbers. Slide 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276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646E80"/>
                </a:solidFill>
                <a:latin typeface="Arial"/>
              </a:defRPr>
            </a:pPr>
            <a:r>
              <a:t>Every constant in this deck is transcribed from src/lib/damModel.ts.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1 · Data flow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One direction, top to bottom. Everything downstream is derived on render.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17904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INPUTS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3F4F6"/>
                </a:solidFill>
                <a:latin typeface="Consolas"/>
              </a:defRPr>
            </a:pPr>
            <a:r>
              <a:t>surge · pga · spillwayGate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9CA3AF"/>
                </a:solidFill>
                <a:latin typeface="Arial"/>
              </a:defRPr>
            </a:pPr>
            <a:r>
              <a:t>Set by sliders, or driven by a running scenario.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50208" y="1874519"/>
            <a:ext cx="640080" cy="365760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3716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8" y="1517904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onsolas"/>
              </a:defRPr>
            </a:pPr>
            <a:r>
              <a:t>PURE FUNCTIONS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3F4F6"/>
                </a:solidFill>
                <a:latin typeface="Consolas"/>
              </a:defRPr>
            </a:pPr>
            <a:r>
              <a:t>readSensors()</a:t>
            </a:r>
            <a:br/>
            <a:r>
              <a:t>computeRisk()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9CA3AF"/>
                </a:solidFill>
                <a:latin typeface="Arial"/>
              </a:defRPr>
            </a:pPr>
            <a:r>
              <a:t>No effects, no clock, no randomness.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56448" y="1874519"/>
            <a:ext cx="640080" cy="36576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9408" y="13716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51790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onsolas"/>
              </a:defRPr>
            </a:pPr>
            <a:r>
              <a:t>DERIVED UI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3F4F6"/>
                </a:solidFill>
                <a:latin typeface="Consolas"/>
              </a:defRPr>
            </a:pPr>
            <a:r>
              <a:t>6 readings + risk</a:t>
            </a:r>
            <a:br/>
            <a:r>
              <a:t>+ protocol text</a:t>
            </a:r>
          </a:p>
          <a:p>
            <a:pPr algn="l">
              <a:spcBef>
                <a:spcPts val="500"/>
              </a:spcBef>
              <a:defRPr sz="1000" b="0">
                <a:solidFill>
                  <a:srgbClr val="9CA3AF"/>
                </a:solidFill>
                <a:latin typeface="Arial"/>
              </a:defRPr>
            </a:pPr>
            <a:r>
              <a:t>Recomputed every render.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F3F4F6"/>
                </a:solidFill>
                <a:latin typeface="Arial"/>
              </a:defRPr>
            </a:pPr>
            <a:r>
              <a:t>The four consumers of that derived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01568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66160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Arial"/>
              </a:defRPr>
            </a:pPr>
            <a:r>
              <a:t>3D twin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Sensor beacons colour by status; labels show live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3401568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566160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Telemetry charts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28-point rolling history, sampled on a 2 s clock.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401568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E84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566160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E84A9C"/>
                </a:solidFill>
                <a:latin typeface="Arial"/>
              </a:defRPr>
            </a:pPr>
            <a:r>
              <a:t>Risk gauge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Score plus the three named driver contributions.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3401568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3566160"/>
            <a:ext cx="22494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Protocol panel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Recommendation text selected by risk band.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92040"/>
            <a:ext cx="11064240" cy="1261872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552176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Why it matters: state is never synced, only derived.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The same three numbers always produce the same six readings and the same score —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so any frame of the demo is exactly reproducible from three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2 · The three simulator inputs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Everything the demo shows is a function of these three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17320"/>
            <a:ext cx="110642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99616"/>
            <a:ext cx="17753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4928" y="1499616"/>
            <a:ext cx="471280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Arial"/>
              </a:defRPr>
            </a:pPr>
            <a:r>
              <a:t>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0609" y="1499616"/>
            <a:ext cx="167747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Arial"/>
              </a:defRPr>
            </a:pPr>
            <a:r>
              <a:t>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0968" y="1499616"/>
            <a:ext cx="796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Arial"/>
              </a:defRPr>
            </a:pPr>
            <a:r>
              <a:t>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0105" y="1499616"/>
            <a:ext cx="118791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Arial"/>
              </a:defRPr>
            </a:pPr>
            <a:r>
              <a:t>Rest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7944"/>
            <a:ext cx="11064240" cy="420624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20240"/>
            <a:ext cx="17753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Consolas"/>
              </a:defRPr>
            </a:pPr>
            <a:r>
              <a:t>surge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4928" y="1920240"/>
            <a:ext cx="471280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Arial"/>
              </a:defRPr>
            </a:pPr>
            <a:r>
              <a:t>Reservoir rise above normal operating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0609" y="1920240"/>
            <a:ext cx="167747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0 → 15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968" y="1920240"/>
            <a:ext cx="796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0105" y="1920240"/>
            <a:ext cx="118791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58568"/>
            <a:ext cx="11064240" cy="420624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40864"/>
            <a:ext cx="17753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Consolas"/>
              </a:defRPr>
            </a:pPr>
            <a:r>
              <a:t>pga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4928" y="2340864"/>
            <a:ext cx="471280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Arial"/>
              </a:defRPr>
            </a:pPr>
            <a:r>
              <a:t>Peak ground acceleration at the abutment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0609" y="2340864"/>
            <a:ext cx="167747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0 → 0.45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968" y="2340864"/>
            <a:ext cx="796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0.01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0105" y="2340864"/>
            <a:ext cx="118791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0.02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79192"/>
            <a:ext cx="11064240" cy="420624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761488"/>
            <a:ext cx="177539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00E5FF"/>
                </a:solidFill>
                <a:latin typeface="Consolas"/>
              </a:defRPr>
            </a:pPr>
            <a:r>
              <a:t>spillwayGate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4928" y="2761488"/>
            <a:ext cx="4712801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Arial"/>
              </a:defRPr>
            </a:pPr>
            <a:r>
              <a:t>Gate opening — discharge capacity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0609" y="2761488"/>
            <a:ext cx="167747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10 → 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968" y="2761488"/>
            <a:ext cx="796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0105" y="2761488"/>
            <a:ext cx="118791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F3F4F6"/>
                </a:solidFill>
                <a:latin typeface="Consolas"/>
              </a:defRPr>
            </a:pPr>
            <a:r>
              <a:t>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63240"/>
            <a:ext cx="11064240" cy="1261872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246120"/>
            <a:ext cx="10552176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closure = 100 - spillwayGate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Gate opening is inverted into a closure percentage before it reaches any equation.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A fully open gate (100%) contributes exactly zero. A seized gate at 10% contributes 90 units of closure.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61772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709159"/>
            <a:ext cx="1062532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Rest state is not zero risk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PGA idles at 0.02 g (ambient microseismic background), so the dashboard never shows a dead-flat trace.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67528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458968"/>
            <a:ext cx="1062532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00E5FF"/>
                </a:solidFill>
                <a:latin typeface="Arial"/>
              </a:defRPr>
            </a:pPr>
            <a:r>
              <a:t>Sliders lock during a scenario</a:t>
            </a:r>
          </a:p>
          <a:p>
            <a:pPr algn="l">
              <a:spcBef>
                <a:spcPts val="3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While a scripted scenario runs, the scenario clock owns the three inputs and the sliders go read-only.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3 · The sensor network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Six instruments, each with a rest reading and two alarm thresholds.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642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53896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322" y="1453896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1806" y="1453896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9381" y="1453896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8472" y="1453896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138" y="1453896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Warn 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3017" y="1453896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Crit 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73936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856231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322" y="1856231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Piezometer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1806" y="1856231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Upstream Heel (EL 490 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9381" y="1856231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kPa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8472" y="1856231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242.4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138" y="1856231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3017" y="1856231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300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176272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258568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3322" y="2258568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Piezometer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1806" y="2258568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Foundation Gallery (EL 510 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9381" y="2258568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kPa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8472" y="2258568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185.1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138" y="2258568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53017" y="2258568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578608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660903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3322" y="2660903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Piezometer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1806" y="2660903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Downstream Toe (EL 480 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9381" y="2660903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kPa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8472" y="2660903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92.6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138" y="2660903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53017" y="2660903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2980944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3063239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INC-04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3322" y="3063239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Pendulum / Inclinometer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1806" y="3063239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Crest Centre (Block 04)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9381" y="3063239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mm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78472" y="3063239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3.2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138" y="3063239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6.5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53017" y="3063239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8.0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383279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3465575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SF-02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63322" y="3465575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Seepage Flow Gauge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1806" y="3465575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Drainage Gallery G-02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89381" y="3465575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L/min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8472" y="3465575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14.2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65138" y="3465575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53017" y="3465575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3785615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867911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WL-01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63322" y="3867911"/>
            <a:ext cx="23856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Water Level Radar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31806" y="3867911"/>
            <a:ext cx="32746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Reservoir Intake Tower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9381" y="3867911"/>
            <a:ext cx="70621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78472" y="3867911"/>
            <a:ext cx="90378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537.4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5138" y="3867911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543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53017" y="3867911"/>
            <a:ext cx="8049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546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41605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Base = the reading at rest: surge 0, pga 0, gate 100%. Thresholds are one-sided — every sensor here alarms on rising values only.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4754880"/>
            <a:ext cx="11064240" cy="1261872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937760"/>
            <a:ext cx="10552176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Instrument naming follows arch-dam practice, not embankment practice.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Heel / toe / foundation gallery / pendulum — the terminology a concrete double-curvature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arch dam would actually use on its instrumentation schedule.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4 · The sensor response equation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One line of arithmetic produces every reading on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900" b="1">
                <a:solidFill>
                  <a:srgbClr val="00E5FF"/>
                </a:solidFill>
                <a:latin typeface="Consolas"/>
              </a:defRPr>
            </a:pPr>
            <a:r>
              <a:t>value  =  base  +  surge × kSurge  +  pga × kPga  +  closure × kGate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linear superposition of three independent load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95351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F3F4F6"/>
                </a:solidFill>
                <a:latin typeface="Consolas"/>
              </a:defRPr>
            </a:pPr>
            <a: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89504"/>
            <a:ext cx="7589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Rest reading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The instrument's value with the reservoir at normal level and no shaking.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94176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81304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nsolas"/>
              </a:defRPr>
            </a:pPr>
            <a:r>
              <a:t>surge × kSurge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49039"/>
            <a:ext cx="7589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Hydrostatic term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Reservoir rise in metres × that sensor's metres-of-surge sensitivity.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53712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67258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onsolas"/>
              </a:defRPr>
            </a:pPr>
            <a:r>
              <a:t>pga × kPga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608576"/>
            <a:ext cx="7589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Seismic term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Ground acceleration in g × that sensor's per-g sensitivity.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13248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5321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onsolas"/>
              </a:defRPr>
            </a:pPr>
            <a:r>
              <a:t>closure × kGate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468112"/>
            <a:ext cx="7589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Discharge term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Percent of gate closure × that sensor's per-percent sensitivity.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623560"/>
            <a:ext cx="11064240" cy="621792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521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Then: value is rounded to the sensor's own decimal precision before display and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5 · The sensitivity coefficients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Which loads each instrument actually responds to — and how strongly.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642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53896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9696" y="1453896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kSurge (per 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1453896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kPga (per 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453896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kGate (per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3376" y="1453896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Dominant driver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56231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1856231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8.5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856231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1856231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1856231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Arial"/>
              </a:defRPr>
            </a:pPr>
            <a:r>
              <a:t>Hydrostatic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76272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258568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258568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5.2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258568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258568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2258568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Arial"/>
              </a:defRPr>
            </a:pPr>
            <a:r>
              <a:t>Hydrostatic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78608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660903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2660903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660903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660903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2660903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Arial"/>
              </a:defRPr>
            </a:pPr>
            <a:r>
              <a:t>Mixed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80944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063239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INC-04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9696" y="3063239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3063239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3063239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3376" y="3063239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Arial"/>
              </a:defRPr>
            </a:pPr>
            <a:r>
              <a:t>Seismic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383279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3465575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SF-02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9696" y="3465575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465575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3465575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3465575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Arial"/>
              </a:defRPr>
            </a:pPr>
            <a:r>
              <a:t>Hydrostatic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785615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3867911"/>
            <a:ext cx="1280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WL-01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9696" y="3867911"/>
            <a:ext cx="2103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5696" y="3867911"/>
            <a:ext cx="19202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3867911"/>
            <a:ext cx="2011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3376" y="3867911"/>
            <a:ext cx="28346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00E5FF"/>
                </a:solidFill>
                <a:latin typeface="Arial"/>
              </a:defRPr>
            </a:pPr>
            <a:r>
              <a:t>Hydrostatic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20624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29767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8B5CF6"/>
                </a:solidFill>
                <a:latin typeface="Arial"/>
              </a:defRPr>
            </a:pPr>
            <a:r>
              <a:t>A zero means genuinely no coupling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INC-04 and SF-02 carry kGate = 0: crest deflection and gallery seepage do not respond to gate position in this model. WL-01 carries kPga = 0 — shaking does not move the reservoir surface.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937759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" y="502919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00E5FF"/>
                </a:solidFill>
                <a:latin typeface="Arial"/>
              </a:defRPr>
            </a:pPr>
            <a:r>
              <a:t>WL-01's kSurge is exactly 1.0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By construction: reservoir level rises one metre per metre of surge. It is the one coefficient that is definitional rather than calibrated.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669279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576071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59E0B"/>
                </a:solidFill>
                <a:latin typeface="Arial"/>
              </a:defRPr>
            </a:pPr>
            <a:r>
              <a:t>Piezometers dominate the seismic term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kPga of 150 at the heel means 0.45 g alone adds 67.5 kPa — more than half the distance from base to the critical limit.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F59E0B"/>
                </a:solidFill>
                <a:latin typeface="Arial"/>
              </a:defRPr>
            </a:pPr>
            <a:r>
              <a:t>6 · Worked example — all six readings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Operating point: surge = 4.0 m, pga = 0.05 g, gate = 100% (closure = 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5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P-01  =  242.4  +  4.0 × 8.5  +  0.05 × 150  +  0 × 0.15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    =  242.4  +  34.0  +  7.5  +  0.0   =   283.9 kPa      →  ≥ 270 warn, &lt; 300 crit  →  WARNING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14600"/>
            <a:ext cx="110642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59689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3127" y="259689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9598" y="259689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+ Surge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069" y="259689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+ PGA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2540" y="259689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+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9011" y="2596896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5601" y="2596896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16936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99923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3127" y="299923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242.4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598" y="299923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34.0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6069" y="299923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7.5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2540" y="299923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9011" y="2999232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283.9 kPa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5601" y="2999232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19272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401568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3127" y="3401568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185.1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9598" y="3401568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20.8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6069" y="3401568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2540" y="3401568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9011" y="3401568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210.4 kPa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5601" y="3401568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21608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803904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P-03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3127" y="3803904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92.6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9598" y="3803904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9.6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6069" y="3803904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2540" y="3803904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09011" y="3803904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105.2 kPa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5601" y="3803904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123944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206240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INC-04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83127" y="4206240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3.2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9598" y="4206240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6069" y="4206240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1.25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2540" y="4206240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9011" y="4206240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6.1 mm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5601" y="4206240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526280"/>
            <a:ext cx="11064240" cy="402336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60857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SF-02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3127" y="460857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14.2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9598" y="460857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7.2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6069" y="460857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1.5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2540" y="4608576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9011" y="4608576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22.9 L/min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65601" y="4608576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928616"/>
            <a:ext cx="11064240" cy="402336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501091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WL-01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83127" y="501091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537.4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89598" y="501091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4.0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6069" y="501091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2540" y="5010912"/>
            <a:ext cx="122359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0.0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09011" y="5010912"/>
            <a:ext cx="19737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541.4 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65601" y="5010912"/>
            <a:ext cx="169241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53492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Three sensors in warning, three normal — from a 4 m surge and near-negligible shaking. The spread is the point: because each instrument carries its own coefficients and its own thresholds, one operating point produces a mixed picture rather than six identical bars.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63276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646E80"/>
                </a:solidFill>
                <a:latin typeface="Arial"/>
              </a:defRPr>
            </a:pPr>
            <a:r>
              <a:t>INC-04 sums to 6.05 and displays as 6.1 — rounding to the sensor's own precision happens before display and before the threshold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7 · Status bands and bar fill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How a number becomes a colour.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837175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status =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value ≥ critAt  →  'critical'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value ≥ warnAt  →  'warning'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otherwise       →  'normal'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371600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837175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utilisation =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min(1.4, value / critAt)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Drives the fill fraction on each bar.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F3F4F6"/>
                </a:solidFill>
                <a:latin typeface="Arial"/>
              </a:defRPr>
            </a:pPr>
            <a:r>
              <a:t>Two details worth knowing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11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39896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Arial"/>
              </a:defRPr>
            </a:pPr>
            <a:r>
              <a:t>Comparison happens after rounding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CA3AF"/>
                </a:solidFill>
                <a:latin typeface="Arial"/>
              </a:defRPr>
            </a:pPr>
            <a:r>
              <a:t>The value is rounded to the sensor's display precision first, then tested. What you read on screen is exactly what was compared — a reading shown as 270.0 kPa is in warning, with no hidden 269.97 behind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91455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Utilisation is capped at 1.4, not 1.0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CA3AF"/>
                </a:solidFill>
                <a:latin typeface="Arial"/>
              </a:defRPr>
            </a:pPr>
            <a:r>
              <a:t>Bars keep growing past the critical limit so an overshoot stays visible, but stop at 140% so a runaway value cannot blow out the layout. A bar pinned at full width means ≥ 140% of critical.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52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Status drives colour everywhere at once: the sensor tile, its 3D beacon, and its label 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8 · The risk score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A sum of named contributions, so the gauge can explain why it moved.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E84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800" b="1">
                <a:solidFill>
                  <a:srgbClr val="E84A9C"/>
                </a:solidFill>
                <a:latin typeface="Consolas"/>
              </a:defRPr>
            </a:pPr>
            <a:r>
              <a:t>score  =  clamp( hydrostatic + seismic + discharge + 12 ,  5 ,  100 )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06040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77977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00E5FF"/>
                </a:solidFill>
                <a:latin typeface="Consolas"/>
              </a:defRPr>
            </a:pPr>
            <a:r>
              <a:t>hydrostatic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7977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Consolas"/>
              </a:defRPr>
            </a:pPr>
            <a:r>
              <a:t>surge × 3.8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7977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CA3AF"/>
                </a:solidFill>
                <a:latin typeface="Consolas"/>
              </a:defRPr>
            </a:pPr>
            <a:r>
              <a:t>0 → 57.0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9CA3AF"/>
                </a:solidFill>
                <a:latin typeface="Arial"/>
              </a:defRPr>
            </a:pPr>
            <a:r>
              <a:t>Reservoir loading. The largest single contributor at full 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92424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566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8B5CF6"/>
                </a:solidFill>
                <a:latin typeface="Consolas"/>
              </a:defRPr>
            </a:pPr>
            <a:r>
              <a:t>seismic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661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Consolas"/>
              </a:defRPr>
            </a:pPr>
            <a:r>
              <a:t>pga × 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CA3AF"/>
                </a:solidFill>
                <a:latin typeface="Consolas"/>
              </a:defRPr>
            </a:pPr>
            <a:r>
              <a:t>0 → 63.0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29584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9CA3AF"/>
                </a:solidFill>
                <a:latin typeface="Arial"/>
              </a:defRPr>
            </a:pPr>
            <a:r>
              <a:t>Ground shaking. Steepest coefficient — 0.45 g alone exceeds the warning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78808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35254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E84A9C"/>
                </a:solidFill>
                <a:latin typeface="Consolas"/>
              </a:defRPr>
            </a:pPr>
            <a:r>
              <a:t>discharge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35254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Consolas"/>
              </a:defRPr>
            </a:pPr>
            <a:r>
              <a:t>closure × 0.35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5254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CA3AF"/>
                </a:solidFill>
                <a:latin typeface="Consolas"/>
              </a:defRPr>
            </a:pPr>
            <a:r>
              <a:t>0 → 31.5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1596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9CA3AF"/>
                </a:solidFill>
                <a:latin typeface="Arial"/>
              </a:defRPr>
            </a:pPr>
            <a:r>
              <a:t>Lost spillway capacity. Smallest contributor, but always present when gates are throttled.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65192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138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9CA3AF"/>
                </a:solidFill>
                <a:latin typeface="Consolas"/>
              </a:defRPr>
            </a:pPr>
            <a:r>
              <a:t>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1389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Consolas"/>
              </a:defRPr>
            </a:pPr>
            <a:r>
              <a:t>12 (constant)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3892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CA3AF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10235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9CA3AF"/>
                </a:solidFill>
                <a:latin typeface="Arial"/>
              </a:defRPr>
            </a:pPr>
            <a:r>
              <a:t>RISK_BASELINE — the standing risk of operating a dam at all. Never zero.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80644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89320"/>
            <a:ext cx="10552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Sum at full range = 57 + 63 + 31.5 + 12 = 163.5, so the score saturates at 100 well before the sliders max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F59E0B"/>
                </a:solidFill>
                <a:latin typeface="Arial"/>
              </a:defRPr>
            </a:pPr>
            <a:r>
              <a:t>9 · Risk bands and a worked score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Three bands, and the same operating point as slide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3529584" cy="123444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onsolas"/>
              </a:defRPr>
            </a:pPr>
            <a:r>
              <a:t>score &gt; 60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3F4F6"/>
                </a:solidFill>
                <a:latin typeface="Arial"/>
              </a:defRPr>
            </a:pPr>
            <a:r>
              <a:t>CRITICAL RISK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SEVERE STRESS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29584" cy="123444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536192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onsolas"/>
              </a:defRPr>
            </a:pPr>
            <a:r>
              <a:t>score &gt; 28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3F4F6"/>
                </a:solidFill>
                <a:latin typeface="Arial"/>
              </a:defRPr>
            </a:pPr>
            <a:r>
              <a:t>ELEVATED RISK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371600"/>
            <a:ext cx="3529584" cy="123444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536192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onsolas"/>
              </a:defRPr>
            </a:pPr>
            <a:r>
              <a:t>score ≤ 28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F3F4F6"/>
                </a:solidFill>
                <a:latin typeface="Arial"/>
              </a:defRPr>
            </a:pPr>
            <a:r>
              <a:t>LOW RISK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STRUCTURALLY 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214884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52176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At surge = 4.0 m, pga = 0.05 g, gate = 100%: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hydrostatic = 4.0 × 3.8   = 15.2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seismic     = 0.05 × 140  =  7.0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discharge   = 0 × 0.35    =  0.0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baseline                  = 12.0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score = 15.2 + 7.0 + 0.0 + 12.0 = 34.2   →  &gt; 28  →  ELEVATED RISK —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2578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F3F4F6"/>
                </a:solidFill>
                <a:latin typeface="Arial"/>
              </a:defRPr>
            </a:pPr>
            <a:r>
              <a:t>The gauge shows the split, not just the total.</a:t>
            </a:r>
          </a:p>
          <a:p>
            <a:pPr algn="l">
              <a:spcBef>
                <a:spcPts val="500"/>
              </a:spcBef>
              <a:defRPr sz="1150" b="0">
                <a:solidFill>
                  <a:srgbClr val="9CA3AF"/>
                </a:solidFill>
                <a:latin typeface="Arial"/>
              </a:defRPr>
            </a:pPr>
            <a:r>
              <a:t>34.2 points made of 15.2 hydrostatic + 7.0 seismic + 0.0 discharge tells an operator to look at the reservoir, not the gates or the fault. That decomposition is the whole reason the score is a sum of named terms rather than a single opaque formula.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10 · The recommended protocol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A lookup on the risk band — deterministic, not generative.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129844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Arial"/>
              </a:defRPr>
            </a:pPr>
            <a:r>
              <a:t>CRITICAL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score &gt;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54480"/>
            <a:ext cx="8321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Arial"/>
              </a:defRPr>
            </a:pPr>
            <a:r>
              <a:t>Open spillway gates to 100%. Dispatch structural team to inspect the downstream toe (P-03) and drainage gallery. Notify downstream settlements per Emergency Action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16352"/>
            <a:ext cx="11064240" cy="129844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80944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WARNING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score &gt;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Arial"/>
              </a:defRPr>
            </a:pPr>
            <a:r>
              <a:t>Hydrodynamic pressure elevated. Increase piezometric sampling to 1 s intervals, verify gallery drain flow at SF-02, and stage auxiliary spillway gates for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61104"/>
            <a:ext cx="11064240" cy="129844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25696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NORMAL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score ≤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443984"/>
            <a:ext cx="8321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F3F4F6"/>
                </a:solidFill>
                <a:latin typeface="Arial"/>
              </a:defRPr>
            </a:pPr>
            <a:r>
              <a:t>Structure stable under nominal hydrodynamic loads. No intervention required. Piezometric heads and crest deflection within design safety envelopes.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52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No language model is involved. The 'AI Recommended Protocol' panel selects one of three fixed strings.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11 · The scenario engine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How a scripted event drives the sliders, the twin, the charts and the gauge from one clock.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4475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Progress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p = elapsed / durationMs, clamped to 1. One requestAnimationFrame loop owns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677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Bracket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Find the keyframe pair a, b where a.at ≤ p ≤ b.at.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34639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9923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07791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Normalise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raw = (p − a.at) / (b.at − a.at) — position between those two keyframes.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66159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73075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39311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Ease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t = raw² × (3 − 2·raw) — smoothstep, so slider motion accelerates and settles.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79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62271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00E5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70831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F3F4F6"/>
                </a:solidFill>
                <a:latin typeface="Arial"/>
              </a:defRPr>
            </a:pPr>
            <a:r>
              <a:t>Interpolate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Each of the three inputs is lerped from a to b using t, then pushed to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2064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483717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Events fire on threshold crossing: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while (fired &lt; events.length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     &amp;&amp; events[fired].at &lt;= p)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  → append to the log, once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512064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303520"/>
            <a:ext cx="483717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Why smoothstep, not linear: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linear keyframes make the sliders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snap between poses. Smoothstep eases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in and out — it reads as real motion.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12 · The three scenarios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Each one exercises a different term of the risk equation.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53896"/>
            <a:ext cx="1920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1453896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Premise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6016" y="14538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5" y="145389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Peak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0655" y="14538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7935" y="14538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28800"/>
            <a:ext cx="11064240" cy="457200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911095"/>
            <a:ext cx="1920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Flood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1911095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1-in-500-year inflow, staged gate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1911095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26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5" y="1911095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surge 15.0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655" y="1911095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WL-01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7935" y="191109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86000"/>
            <a:ext cx="11064240" cy="457200"/>
          </a:xfrm>
          <a:prstGeom prst="rect">
            <a:avLst/>
          </a:prstGeom>
          <a:solidFill>
            <a:srgbClr val="0F1624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368296"/>
            <a:ext cx="1920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Seismic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368296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M6.4 near-field rupture, aftershock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3682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22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5" y="236829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pga 0.38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5" y="23682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INC-04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7935" y="23682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43200"/>
            <a:ext cx="11064240" cy="457200"/>
          </a:xfrm>
          <a:prstGeom prst="rect">
            <a:avLst/>
          </a:prstGeom>
          <a:solidFill>
            <a:srgbClr val="161D2D"/>
          </a:solidFill>
          <a:ln w="63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825496"/>
            <a:ext cx="1920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00E5FF"/>
                </a:solidFill>
                <a:latin typeface="Arial"/>
              </a:defRPr>
            </a:pPr>
            <a:r>
              <a:t>Gate Malfunction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2825496"/>
            <a:ext cx="4023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Arial"/>
              </a:defRPr>
            </a:pPr>
            <a:r>
              <a:t>Radial gate seizure during high inflow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28254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20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5" y="282549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gate 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8254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SF-02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7935" y="28254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3F4F6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0632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F3F4F6"/>
                </a:solidFill>
                <a:latin typeface="Arial"/>
              </a:defRPr>
            </a:pPr>
            <a:r>
              <a:t>What each one is designed to show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474720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69417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Arial"/>
              </a:defRPr>
            </a:pPr>
            <a:r>
              <a:t>Flood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584448"/>
            <a:ext cx="9235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Drives the hydrostatic term to its ceiling. Gates stage down 100 → 75 → 45 → 30% as capacity saturates, then reopen fully at p = 0.88 for drawdown. Ends with the structure recovered.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334256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55371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Seismic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443984"/>
            <a:ext cx="9235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Spikes the seismic term to 0.38 g at p = 0.12, decays, then a second 0.29 g aftershock at p = 0.42. Surge barely moves — this scenario isolates INC-04 crest deflection.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193792"/>
            <a:ext cx="11064240" cy="786384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41324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E84A9C"/>
                </a:solidFill>
                <a:latin typeface="Arial"/>
              </a:defRPr>
            </a:pPr>
            <a:r>
              <a:t>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5303520"/>
            <a:ext cx="9235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Holds pga flat and collapses the gate to 10%, so the discharge term and a slow surge climb carry the whole score. Recovery only comes at p = 0.86 when the gate is freed.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08076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263640"/>
            <a:ext cx="10552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All three end in a recovered state — the demo is designed to close on a stable structure, not a failure.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13 · Telemetry sampling and the trace jitter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The one place the demo is deliberately non-deterministic.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26151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00E5FF"/>
                </a:solidFill>
                <a:latin typeface="Consolas"/>
              </a:defRPr>
            </a:pPr>
            <a:r>
              <a:t>2 s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Sample interval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37160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1517904"/>
            <a:ext cx="26151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8B5CF6"/>
                </a:solidFill>
                <a:latin typeface="Consolas"/>
              </a:defRPr>
            </a:pPr>
            <a:r>
              <a:t>28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Points retained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37160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6" y="1517904"/>
            <a:ext cx="26151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Consolas"/>
              </a:defRPr>
            </a:pPr>
            <a:r>
              <a:t>56 s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Visible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9" y="1371600"/>
            <a:ext cx="2615184" cy="105156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1517904"/>
            <a:ext cx="26151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100" b="1">
                <a:solidFill>
                  <a:srgbClr val="F59E0B"/>
                </a:solidFill>
                <a:latin typeface="Consolas"/>
              </a:defRPr>
            </a:pPr>
            <a:r>
              <a:t>±0.075%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Jitter amplitude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974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1055217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jitter = (random() − 0.5) × max(0.05, value × 0.0015)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sample = round(value + jitter, decimals)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77639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87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00E5FF"/>
                </a:solidFill>
                <a:latin typeface="Arial"/>
              </a:defRPr>
            </a:pPr>
            <a:r>
              <a:t>Why add noise at all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A pure model produces a perfectly flat line when nothing moves. Real instruments never do. The jitter is cosmetic — it makes an idle trace look like an instrument rather than a constant.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64024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7375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10B981"/>
                </a:solidFill>
                <a:latin typeface="Arial"/>
              </a:defRPr>
            </a:pPr>
            <a:r>
              <a:t>It never changes a status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Jitter is applied only to the charted history. Sensor tiles, statuses, the risk score and the 3D twin all read the clean deterministic value. Noise can never trip an alarm.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50408"/>
            <a:ext cx="11064240" cy="713232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0136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8B5CF6"/>
                </a:solidFill>
                <a:latin typeface="Arial"/>
              </a:defRPr>
            </a:pPr>
            <a:r>
              <a:t>The floor matters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max(0.05, …) keeps a visible wiggle on small readings — INC-04 at 3.2 mm would otherwise jitter by ±0.0024 mm and round away to a flat 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00E5FF"/>
                </a:solidFill>
                <a:latin typeface="Arial"/>
              </a:defRPr>
            </a:pPr>
            <a:r>
              <a:t>14 · The 3D twin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What is rendered, and what is only representative.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486400" cy="278892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Driven by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Beacon colour — normal / warning / critical per sensor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9464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Label text — live value and unit, updated every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8152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Selection ring and camera focus — follows the selected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93592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Scenario camera — each scenario frames its own focus sensor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371600"/>
            <a:ext cx="5486400" cy="278892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727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Representative geometry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Arch shell, gorge walls and crest road are modelled, not surveyed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9464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Sensor positions are plausible placements, not as-built coordinates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08152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Internal zoning (grout curtain, gallery, monolith) is illustrative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93592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 No structural solver — nothing here is computed from geometry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1055217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Zoom-aware labels: scale = lerp(1.3, 0.45, smoothstep(distance, 8, 30))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Labels sit at 1.3× when the camera is at its closest dolly stop and shrink to 0.45× at the widest,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CA3AF"/>
                </a:solidFill>
                <a:latin typeface="Consolas"/>
              </a:defRPr>
            </a:pPr>
            <a:r>
              <a:t>so readings stay legible up close without the label swarm covering the dam in the wide shot.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276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646E80"/>
                </a:solidFill>
                <a:latin typeface="Arial"/>
              </a:defRPr>
            </a:pPr>
            <a:r>
              <a:t>Rendered with react-three-fiber over WebGL. Labels are DOM elements positioned in 3D, not textures.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>
                <a:solidFill>
                  <a:srgbClr val="EF4444"/>
                </a:solidFill>
                <a:latin typeface="Arial"/>
              </a:defRPr>
            </a:pPr>
            <a:r>
              <a:t>15 · What this model is not</a:t>
            </a:r>
          </a:p>
          <a:p>
            <a:pPr algn="l">
              <a:spcBef>
                <a:spcPts val="5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Read this before quoting any number from the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EF4444"/>
                </a:solidFill>
                <a:latin typeface="Arial"/>
              </a:defRPr>
            </a:pPr>
            <a:r>
              <a:t>It is not a structural analysis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CA3AF"/>
                </a:solidFill>
                <a:latin typeface="Arial"/>
              </a:defRPr>
            </a:pPr>
            <a:r>
              <a:t>No finite element method, no seepage solver, no material properties. Sensor responses are linear coefficients chosen to behave plausibly, not derived from the geometry on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42032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8833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F59E0B"/>
                </a:solidFill>
                <a:latin typeface="Arial"/>
              </a:defRPr>
            </a:pPr>
            <a:r>
              <a:t>Superposition is assumed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CA3AF"/>
                </a:solidFill>
                <a:latin typeface="Arial"/>
              </a:defRPr>
            </a:pPr>
            <a:r>
              <a:t>The three load cases add independently. Real coupling — surge changing the seismic response, seepage lagging behind reservoir level — is not represented. There is no time lag anywhere in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712464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58768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F59E0B"/>
                </a:solidFill>
                <a:latin typeface="Arial"/>
              </a:defRPr>
            </a:pPr>
            <a:r>
              <a:t>The risk score is not a standard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CA3AF"/>
                </a:solidFill>
                <a:latin typeface="Arial"/>
              </a:defRPr>
            </a:pPr>
            <a:r>
              <a:t>The 3.8 / 140 / 0.35 weights and the 28 / 60 band edges are demonstration values. They are not traceable to ICOLD, to any national dam safety guideline, or to a calibrated fragility curve.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82896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8B5CF6"/>
                </a:solidFill>
                <a:latin typeface="Arial"/>
              </a:defRPr>
            </a:pPr>
            <a:r>
              <a:t>The dam is fictional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CA3AF"/>
                </a:solidFill>
                <a:latin typeface="Arial"/>
              </a:defRPr>
            </a:pPr>
            <a:r>
              <a:t>Demo Dam is not a real facility. Elevations, thresholds and base readings are invented to be self-consistent and realistic in shape, nothing more.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F16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52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3F4F6"/>
                </a:solidFill>
                <a:latin typeface="Consolas"/>
              </a:defRPr>
            </a:pPr>
            <a:r>
              <a:t>What it does demonstrate: the interaction model, the data flow, and the operator experience — end to 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8655" cy="4206240"/>
          </a:xfrm>
          <a:prstGeom prst="roundRect">
            <a:avLst>
              <a:gd name="adj" fmla="val 8000"/>
            </a:avLst>
          </a:prstGeom>
          <a:solidFill>
            <a:srgbClr val="161D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9784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9CA3AF"/>
                </a:solidFill>
                <a:latin typeface="Consolas"/>
              </a:defRPr>
            </a:pPr>
            <a:r>
              <a:t>REPRODUCE ANY FRAME</a:t>
            </a:r>
          </a:p>
          <a:p>
            <a:pPr algn="l">
              <a:spcBef>
                <a:spcPts val="800"/>
              </a:spcBef>
              <a:defRPr sz="3000" b="1">
                <a:solidFill>
                  <a:srgbClr val="00E5FF"/>
                </a:solidFill>
                <a:latin typeface="Arial"/>
              </a:defRPr>
            </a:pPr>
            <a:r>
              <a:t>Three numbers. That's the whole state.</a:t>
            </a:r>
          </a:p>
          <a:p>
            <a:pPr algn="l">
              <a:spcBef>
                <a:spcPts val="1200"/>
              </a:spcBef>
              <a:defRPr sz="1700" b="0">
                <a:solidFill>
                  <a:srgbClr val="F3F4F6"/>
                </a:solidFill>
                <a:latin typeface="Consolas"/>
              </a:defRPr>
            </a:pPr>
            <a:r>
              <a:t>surge · pga · spillwayGate</a:t>
            </a:r>
          </a:p>
          <a:p>
            <a:pPr algn="l">
              <a:spcBef>
                <a:spcPts val="1400"/>
              </a:spcBef>
              <a:defRPr sz="1250" b="0">
                <a:solidFill>
                  <a:srgbClr val="9CA3AF"/>
                </a:solidFill>
                <a:latin typeface="Arial"/>
              </a:defRPr>
            </a:pPr>
            <a:r>
              <a:t>Set those three sliders and every reading, every status colour, every bar fill and the risk score reproduce exactly. Nothing on the dashboard is stored, streamed, or remembered — it is all recomputed from those three values on every render.</a:t>
            </a:r>
          </a:p>
          <a:p>
            <a:pPr algn="l">
              <a:spcBef>
                <a:spcPts val="1600"/>
              </a:spcBef>
              <a:defRPr sz="1100" b="0">
                <a:solidFill>
                  <a:srgbClr val="9CA3AF"/>
                </a:solidFill>
                <a:latin typeface="Consolas"/>
              </a:defRPr>
            </a:pPr>
            <a:r>
              <a:t>Source of truth: src/lib/damModel.ts   ·   Deck generator: create_technical_presentation.py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1">
                <a:solidFill>
                  <a:srgbClr val="F3F4F6"/>
                </a:solidFill>
                <a:latin typeface="Arial"/>
              </a:defRPr>
            </a:pPr>
            <a:r>
              <a:t>SU YAPI Engineering &amp; Consulting   ·   Para Sidara</a:t>
            </a:r>
          </a:p>
          <a:p>
            <a:pPr algn="ctr">
              <a:spcBef>
                <a:spcPts val="400"/>
              </a:spcBef>
              <a:defRPr sz="1050" b="0">
                <a:solidFill>
                  <a:srgbClr val="9CA3AF"/>
                </a:solidFill>
                <a:latin typeface="Arial"/>
              </a:defRPr>
            </a:pPr>
            <a:r>
              <a:t>Demo Dam (Block 04) — demonstration dataset, not live field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